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8"/>
  </p:notesMasterIdLst>
  <p:sldIdLst>
    <p:sldId id="256" r:id="rId2"/>
    <p:sldId id="285" r:id="rId3"/>
    <p:sldId id="257" r:id="rId4"/>
    <p:sldId id="259" r:id="rId5"/>
    <p:sldId id="260" r:id="rId6"/>
    <p:sldId id="261" r:id="rId7"/>
    <p:sldId id="276" r:id="rId8"/>
    <p:sldId id="263" r:id="rId9"/>
    <p:sldId id="264" r:id="rId10"/>
    <p:sldId id="265" r:id="rId11"/>
    <p:sldId id="273" r:id="rId12"/>
    <p:sldId id="266" r:id="rId13"/>
    <p:sldId id="277" r:id="rId14"/>
    <p:sldId id="267" r:id="rId15"/>
    <p:sldId id="278" r:id="rId16"/>
    <p:sldId id="268" r:id="rId17"/>
    <p:sldId id="279" r:id="rId18"/>
    <p:sldId id="269" r:id="rId19"/>
    <p:sldId id="280" r:id="rId20"/>
    <p:sldId id="270" r:id="rId21"/>
    <p:sldId id="281" r:id="rId22"/>
    <p:sldId id="282" r:id="rId23"/>
    <p:sldId id="283" r:id="rId24"/>
    <p:sldId id="284" r:id="rId25"/>
    <p:sldId id="271" r:id="rId26"/>
    <p:sldId id="272" r:id="rId27"/>
  </p:sldIdLst>
  <p:sldSz cx="18288000" cy="10287000"/>
  <p:notesSz cx="6858000" cy="9144000"/>
  <p:embeddedFontLst>
    <p:embeddedFont>
      <p:font typeface="DM Sans" pitchFamily="2" charset="0"/>
      <p:regular r:id="rId29"/>
      <p:bold r:id="rId30"/>
      <p:italic r:id="rId31"/>
      <p:boldItalic r:id="rId32"/>
    </p:embeddedFont>
    <p:embeddedFont>
      <p:font typeface="DM Sans Bold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997" autoAdjust="0"/>
  </p:normalViewPr>
  <p:slideViewPr>
    <p:cSldViewPr>
      <p:cViewPr varScale="1">
        <p:scale>
          <a:sx n="40" d="100"/>
          <a:sy n="40" d="100"/>
        </p:scale>
        <p:origin x="92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EE26F-0A5F-495F-8ED8-F3E63DFECCE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318402-741C-415D-BB3A-C3066A8A1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29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318402-741C-415D-BB3A-C3066A8A136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965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318402-741C-415D-BB3A-C3066A8A136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786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www.linkedin.com/in/kiro-adel-12a76b340?utm_source=share&amp;utm_campaign=share_via&amp;utm_content=profile&amp;utm_medium=android_app" TargetMode="External"/><Relationship Id="rId7" Type="http://schemas.openxmlformats.org/officeDocument/2006/relationships/image" Target="../media/image3.png"/><Relationship Id="rId12" Type="http://schemas.openxmlformats.org/officeDocument/2006/relationships/hyperlink" Target="https://www.linkedin.com/in/malak-ezzat-26835b231?utm_source=share&amp;utm_campaign=share_via&amp;utm_content=profile&amp;utm_medium=ios_ap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hyperlink" Target="https://www.linkedin.com/in/ahemd-rady-a1a726328?utm_source=share&amp;utm_campaign=share_via&amp;utm_content=profile&amp;utm_medium=android_app" TargetMode="External"/><Relationship Id="rId5" Type="http://schemas.openxmlformats.org/officeDocument/2006/relationships/hyperlink" Target="https://www.linkedin.com/in/maya-mohamed-0a3bb325b?utm_source=share&amp;utm_campaign=share_via&amp;utm_content=profile&amp;utm_medium=ios_app" TargetMode="External"/><Relationship Id="rId10" Type="http://schemas.openxmlformats.org/officeDocument/2006/relationships/image" Target="../media/image6.jpg"/><Relationship Id="rId4" Type="http://schemas.openxmlformats.org/officeDocument/2006/relationships/hyperlink" Target="https://www.linkedin.com/in/randa-abo-elmagd-18999b31b?utm_source=share&amp;utm_campaign=share_via&amp;utm_content=profile&amp;utm_medium=android_app" TargetMode="External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991600" cy="10287000"/>
            <a:chOff x="0" y="0"/>
            <a:chExt cx="1035548" cy="11847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5548" cy="1184737"/>
            </a:xfrm>
            <a:custGeom>
              <a:avLst/>
              <a:gdLst/>
              <a:ahLst/>
              <a:cxnLst/>
              <a:rect l="l" t="t" r="r" b="b"/>
              <a:pathLst>
                <a:path w="1035548" h="1184737">
                  <a:moveTo>
                    <a:pt x="0" y="0"/>
                  </a:moveTo>
                  <a:lnTo>
                    <a:pt x="1035548" y="0"/>
                  </a:lnTo>
                  <a:lnTo>
                    <a:pt x="1035548" y="1184737"/>
                  </a:lnTo>
                  <a:lnTo>
                    <a:pt x="0" y="1184737"/>
                  </a:lnTo>
                  <a:close/>
                </a:path>
              </a:pathLst>
            </a:custGeom>
            <a:blipFill>
              <a:blip r:embed="rId2"/>
              <a:stretch>
                <a:fillRect t="-378" b="-37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321574" y="739307"/>
            <a:ext cx="6280572" cy="485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5"/>
              </a:lnSpc>
            </a:pPr>
            <a:r>
              <a:rPr lang="en-US" sz="3864" spc="-77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Georgia Pro Light"/>
                <a:cs typeface="Georgia Pro Light"/>
                <a:sym typeface="Georgia Pro Light"/>
              </a:rPr>
              <a:t>UK Trains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734675" y="1697831"/>
            <a:ext cx="6886575" cy="3452208"/>
            <a:chOff x="0" y="180975"/>
            <a:chExt cx="9182100" cy="4602944"/>
          </a:xfrm>
        </p:grpSpPr>
        <p:sp>
          <p:nvSpPr>
            <p:cNvPr id="8" name="TextBox 8"/>
            <p:cNvSpPr txBox="1"/>
            <p:nvPr/>
          </p:nvSpPr>
          <p:spPr>
            <a:xfrm>
              <a:off x="0" y="180975"/>
              <a:ext cx="9182100" cy="33579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75"/>
                </a:lnSpc>
              </a:pPr>
              <a:r>
                <a:rPr lang="en-US" sz="80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Georgia Pro Light"/>
                  <a:cs typeface="Georgia Pro Light"/>
                  <a:sym typeface="Georgia Pro Light"/>
                </a:rPr>
                <a:t>Performance Dashboard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966943"/>
              <a:ext cx="9172671" cy="816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039"/>
                </a:lnSpc>
              </a:pPr>
              <a:r>
                <a:rPr lang="en-US" sz="3599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Team Presentation Overview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744200" y="8705184"/>
            <a:ext cx="5743575" cy="932985"/>
            <a:chOff x="0" y="-47625"/>
            <a:chExt cx="7658100" cy="1243979"/>
          </a:xfrm>
        </p:grpSpPr>
        <p:sp>
          <p:nvSpPr>
            <p:cNvPr id="11" name="TextBox 11"/>
            <p:cNvSpPr txBox="1"/>
            <p:nvPr/>
          </p:nvSpPr>
          <p:spPr>
            <a:xfrm>
              <a:off x="0" y="691344"/>
              <a:ext cx="7658100" cy="5050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Ninja Turtles Team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7658100" cy="588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 Bold"/>
                  <a:cs typeface="DM Sans Bold"/>
                  <a:sym typeface="DM Sans Bold"/>
                </a:rPr>
                <a:t>PRESENTED BY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1EB521-B3A0-8D10-80F7-51288899FA8F}"/>
              </a:ext>
            </a:extLst>
          </p:cNvPr>
          <p:cNvSpPr txBox="1"/>
          <p:nvPr/>
        </p:nvSpPr>
        <p:spPr>
          <a:xfrm>
            <a:off x="0" y="0"/>
            <a:ext cx="18288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DM Sans Bold" charset="0"/>
              </a:rPr>
              <a:t>Agenda:</a:t>
            </a:r>
          </a:p>
          <a:p>
            <a:endParaRPr lang="en-US" sz="8000" dirty="0">
              <a:latin typeface="DM Sans Bold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B5BA1DB-42C5-BB68-E497-A08649376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714500"/>
            <a:ext cx="8254183" cy="8371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4000" dirty="0">
                <a:ln w="0"/>
                <a:solidFill>
                  <a:schemeClr val="accent4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DM Sans Bold" charset="0"/>
                <a:ea typeface="Georgia Pro Light"/>
                <a:cs typeface="Georgia Pro Light"/>
                <a:sym typeface="Georgia Pro Light"/>
              </a:rPr>
              <a:t> </a:t>
            </a:r>
            <a:r>
              <a:rPr lang="en-US" sz="4000" dirty="0">
                <a:ln w="0"/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Georgia Pro Light"/>
                <a:cs typeface="Georgia Pro Light"/>
                <a:sym typeface="Georgia Pro Light"/>
              </a:rPr>
              <a:t>Meet</a:t>
            </a:r>
            <a:r>
              <a:rPr lang="en-US" sz="4000" dirty="0">
                <a:ln w="0"/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 Bold" charset="0"/>
                <a:ea typeface="Georgia Pro Light"/>
                <a:cs typeface="Georgia Pro Light"/>
                <a:sym typeface="Georgia Pro Light"/>
              </a:rPr>
              <a:t> </a:t>
            </a:r>
            <a:r>
              <a:rPr lang="en-US" sz="4000" dirty="0">
                <a:ln w="0"/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Georgia Pro Light"/>
                <a:cs typeface="Georgia Pro Light"/>
                <a:sym typeface="Georgia Pro Light"/>
              </a:rPr>
              <a:t>the</a:t>
            </a:r>
            <a:r>
              <a:rPr lang="en-US" sz="4000" dirty="0">
                <a:ln w="0"/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 Bold" charset="0"/>
                <a:ea typeface="Georgia Pro Light"/>
                <a:cs typeface="Georgia Pro Light"/>
                <a:sym typeface="Georgia Pro Light"/>
              </a:rPr>
              <a:t> </a:t>
            </a:r>
            <a:r>
              <a:rPr lang="en-US" sz="4000" dirty="0">
                <a:ln w="0"/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Georgia Pro Light"/>
                <a:cs typeface="Georgia Pro Light"/>
                <a:sym typeface="Georgia Pro Light"/>
              </a:rPr>
              <a:t>Team</a:t>
            </a:r>
          </a:p>
          <a:p>
            <a:pPr marL="742950" indent="-7429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40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Georgia Pro Light"/>
                <a:cs typeface="Georgia Pro Light"/>
                <a:sym typeface="Georgia Pro Light"/>
              </a:rPr>
              <a:t>What Is Our Project?</a:t>
            </a:r>
          </a:p>
          <a:p>
            <a:pPr marL="742950" indent="-7429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40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Georgia Pro Light"/>
                <a:cs typeface="Georgia Pro Light"/>
                <a:sym typeface="Georgia Pro Light"/>
              </a:rPr>
              <a:t>Why This Topic Matters?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latin typeface="DM Sans Bold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DM Sans Bold" charset="0"/>
              </a:rPr>
              <a:t>Data Preparation 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DM Sans Bold" charset="0"/>
              </a:rPr>
              <a:t>Performance Overview 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DM Sans Bold" charset="0"/>
              </a:rPr>
              <a:t>Customer Profile Analysis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DM Sans Bold" charset="0"/>
              </a:rPr>
              <a:t>Financial Impact 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DM Sans Bold" charset="0"/>
              </a:rPr>
              <a:t>Performance Analysis 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DM Sans Bold" charset="0"/>
              </a:rPr>
              <a:t>Customer Satisfaction 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DM Sans Bold" charset="0"/>
              </a:rPr>
              <a:t>Insights &amp; Recommendations </a:t>
            </a:r>
          </a:p>
          <a:p>
            <a:pPr marL="57150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Key Insights from Analysis</a:t>
            </a:r>
          </a:p>
          <a:p>
            <a:pPr marL="57150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Strategic Recommendations</a:t>
            </a:r>
            <a:endParaRPr lang="en-US" altLang="en-US" sz="4000" dirty="0">
              <a:solidFill>
                <a:schemeClr val="accent4">
                  <a:lumMod val="50000"/>
                </a:schemeClr>
              </a:solidFill>
              <a:latin typeface="DM Sans Bold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DM Sans Bold" charset="0"/>
              </a:rPr>
              <a:t>11.Conclusi</a:t>
            </a:r>
            <a:r>
              <a:rPr lang="en-US" altLang="en-US" sz="40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on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DM Sans Bold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267160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262438" y="733425"/>
            <a:ext cx="9763125" cy="11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 dirty="0">
                <a:ln w="0"/>
                <a:solidFill>
                  <a:schemeClr val="accent4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DM Sans Bold" charset="0"/>
                <a:ea typeface="Georgia Pro Light"/>
                <a:cs typeface="Georgia Pro Light"/>
                <a:sym typeface="Georgia Pro Light"/>
              </a:rPr>
              <a:t>       Meet the Team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846171" y="6137929"/>
            <a:ext cx="3463330" cy="3244476"/>
            <a:chOff x="-57554" y="-1257219"/>
            <a:chExt cx="5451663" cy="3195865"/>
          </a:xfrm>
          <a:effectLst/>
        </p:grpSpPr>
        <p:sp>
          <p:nvSpPr>
            <p:cNvPr id="5" name="TextBox 5"/>
            <p:cNvSpPr txBox="1"/>
            <p:nvPr/>
          </p:nvSpPr>
          <p:spPr>
            <a:xfrm>
              <a:off x="-57554" y="-815105"/>
              <a:ext cx="5132056" cy="275375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2400"/>
                </a:lnSpc>
              </a:pPr>
              <a:endParaRPr lang="ar-EG" sz="2800" dirty="0">
                <a:ln w="0"/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Cambria" panose="02040503050406030204" pitchFamily="18" charset="0"/>
                <a:cs typeface="DM Sans"/>
                <a:sym typeface="DM Sans"/>
              </a:endParaRPr>
            </a:p>
            <a:p>
              <a:pPr marL="0" lvl="0" indent="0" algn="l">
                <a:lnSpc>
                  <a:spcPts val="2400"/>
                </a:lnSpc>
              </a:pPr>
              <a:r>
                <a:rPr lang="en-US" sz="2800" dirty="0">
                  <a:ln w="0"/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Cambria" panose="02040503050406030204" pitchFamily="18" charset="0"/>
                  <a:cs typeface="DM Sans"/>
                  <a:sym typeface="DM Sans"/>
                </a:rPr>
                <a:t>Presentation </a:t>
              </a:r>
            </a:p>
            <a:p>
              <a:pPr marL="0" lvl="0" indent="0" algn="l">
                <a:lnSpc>
                  <a:spcPts val="2400"/>
                </a:lnSpc>
              </a:pPr>
              <a:r>
                <a:rPr lang="en-US" sz="2800" dirty="0">
                  <a:ln w="0"/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Cambria" panose="02040503050406030204" pitchFamily="18" charset="0"/>
                  <a:cs typeface="DM Sans"/>
                  <a:sym typeface="DM Sans"/>
                </a:rPr>
                <a:t>, Documentation </a:t>
              </a:r>
            </a:p>
            <a:p>
              <a:pPr marL="0" lvl="0" indent="0" algn="l">
                <a:lnSpc>
                  <a:spcPts val="2400"/>
                </a:lnSpc>
              </a:pPr>
              <a:r>
                <a:rPr lang="en-US" sz="2800" dirty="0">
                  <a:ln w="0"/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Cambria" panose="02040503050406030204" pitchFamily="18" charset="0"/>
                  <a:cs typeface="DM Sans"/>
                  <a:sym typeface="DM Sans"/>
                </a:rPr>
                <a:t>&amp;Overview</a:t>
              </a:r>
            </a:p>
            <a:p>
              <a:pPr marL="0" lvl="0" indent="0" algn="l">
                <a:lnSpc>
                  <a:spcPts val="2400"/>
                </a:lnSpc>
              </a:pPr>
              <a:endParaRPr lang="en-US" sz="2800" dirty="0">
                <a:ln w="0"/>
                <a:solidFill>
                  <a:schemeClr val="accent4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DM Sans Bold" charset="0"/>
                <a:ea typeface="Cambria" panose="02040503050406030204" pitchFamily="18" charset="0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  <a:p>
              <a:pPr marL="0" lvl="0" indent="0" algn="l">
                <a:lnSpc>
                  <a:spcPts val="2400"/>
                </a:lnSpc>
              </a:pPr>
              <a:endParaRPr lang="en-US" sz="2800" dirty="0">
                <a:ln w="0"/>
                <a:solidFill>
                  <a:schemeClr val="accent4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DM Sans Bold" charset="0"/>
                <a:ea typeface="Cambria" panose="02040503050406030204" pitchFamily="18" charset="0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  <a:p>
              <a:pPr marL="0" lvl="0" indent="0" algn="l">
                <a:lnSpc>
                  <a:spcPts val="2400"/>
                </a:lnSpc>
              </a:pPr>
              <a:endParaRPr lang="en-US" sz="2800" dirty="0">
                <a:ln w="0"/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Cambria" panose="02040503050406030204" pitchFamily="18" charset="0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  <a:p>
              <a:pPr marL="0" lvl="0" indent="0" algn="l">
                <a:lnSpc>
                  <a:spcPts val="2400"/>
                </a:lnSpc>
              </a:pPr>
              <a:r>
                <a:rPr lang="en-US" sz="2800" dirty="0">
                  <a:ln w="0"/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Cambria" panose="02040503050406030204" pitchFamily="18" charset="0"/>
                  <a:cs typeface="DM Sans"/>
                  <a:sym typeface="DM Sans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LinkedIn: </a:t>
              </a:r>
            </a:p>
            <a:p>
              <a:pPr marL="0" lvl="0" indent="0" algn="l">
                <a:lnSpc>
                  <a:spcPts val="2400"/>
                </a:lnSpc>
              </a:pPr>
              <a:r>
                <a:rPr lang="en-US" sz="2800" dirty="0">
                  <a:ln w="0"/>
                  <a:solidFill>
                    <a:schemeClr val="tx2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DM Sans Bold" charset="0"/>
                  <a:ea typeface="Cambria" panose="02040503050406030204" pitchFamily="18" charset="0"/>
                  <a:cs typeface="DM Sans"/>
                  <a:sym typeface="DM Sans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Kiro Adel</a:t>
              </a:r>
              <a:endParaRPr lang="en-US" sz="2800" dirty="0">
                <a:ln w="0"/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DM Sans Bold" charset="0"/>
                <a:ea typeface="Cambria" panose="02040503050406030204" pitchFamily="18" charset="0"/>
                <a:cs typeface="DM Sans"/>
                <a:sym typeface="DM San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7409" y="-1257219"/>
              <a:ext cx="5346700" cy="4962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4"/>
                </a:lnSpc>
              </a:pPr>
              <a:r>
                <a:rPr lang="en-US" sz="2800" b="1" dirty="0">
                  <a:ln w="0"/>
                  <a:solidFill>
                    <a:schemeClr val="accent4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DM Sans Bold" charset="0"/>
                  <a:ea typeface="Cambria" panose="02040503050406030204" pitchFamily="18" charset="0"/>
                  <a:cs typeface="DM Sans Bold"/>
                  <a:sym typeface="DM Sans Bold"/>
                </a:rPr>
                <a:t>KIROLLOS</a:t>
              </a:r>
              <a:r>
                <a:rPr lang="en-US" sz="2800" dirty="0">
                  <a:ln w="0"/>
                  <a:solidFill>
                    <a:schemeClr val="accent4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DM Sans Bold" charset="0"/>
                  <a:ea typeface="Cambria" panose="02040503050406030204" pitchFamily="18" charset="0"/>
                  <a:cs typeface="DM Sans Bold"/>
                  <a:sym typeface="DM Sans Bold"/>
                </a:rPr>
                <a:t> </a:t>
              </a:r>
              <a:r>
                <a:rPr lang="en-US" sz="2800" b="1" dirty="0">
                  <a:ln w="0"/>
                  <a:solidFill>
                    <a:schemeClr val="accent4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DM Sans Bold" charset="0"/>
                  <a:ea typeface="Cambria" panose="02040503050406030204" pitchFamily="18" charset="0"/>
                  <a:cs typeface="DM Sans Bold"/>
                  <a:sym typeface="DM Sans Bold"/>
                </a:rPr>
                <a:t>ADEL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0811" y="6088276"/>
            <a:ext cx="3511216" cy="3494845"/>
            <a:chOff x="0" y="-47625"/>
            <a:chExt cx="5346700" cy="3873036"/>
          </a:xfrm>
        </p:grpSpPr>
        <p:sp>
          <p:nvSpPr>
            <p:cNvPr id="8" name="TextBox 8"/>
            <p:cNvSpPr txBox="1"/>
            <p:nvPr/>
          </p:nvSpPr>
          <p:spPr>
            <a:xfrm>
              <a:off x="0" y="464329"/>
              <a:ext cx="5306469" cy="33610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2175"/>
                </a:lnSpc>
              </a:pPr>
              <a:endParaRPr lang="ar-EG" sz="2800" kern="29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Cambria" panose="02040503050406030204" pitchFamily="18" charset="0"/>
                <a:cs typeface="DM Sans"/>
                <a:sym typeface="DM Sans"/>
              </a:endParaRPr>
            </a:p>
            <a:p>
              <a:pPr marL="0" lvl="0" indent="0" algn="l">
                <a:lnSpc>
                  <a:spcPts val="2175"/>
                </a:lnSpc>
              </a:pPr>
              <a:r>
                <a:rPr lang="en-US" sz="2800" kern="29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Cambria" panose="02040503050406030204" pitchFamily="18" charset="0"/>
                  <a:cs typeface="DM Sans"/>
                  <a:sym typeface="DM Sans"/>
                </a:rPr>
                <a:t>Data Cleaning </a:t>
              </a:r>
            </a:p>
            <a:p>
              <a:pPr marL="0" lvl="0" indent="0" algn="l">
                <a:lnSpc>
                  <a:spcPts val="2175"/>
                </a:lnSpc>
              </a:pPr>
              <a:r>
                <a:rPr lang="en-US" sz="2800" kern="29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Cambria" panose="02040503050406030204" pitchFamily="18" charset="0"/>
                  <a:cs typeface="DM Sans"/>
                  <a:sym typeface="DM Sans"/>
                </a:rPr>
                <a:t>, Modeling </a:t>
              </a:r>
            </a:p>
            <a:p>
              <a:pPr lvl="0">
                <a:lnSpc>
                  <a:spcPts val="2940"/>
                </a:lnSpc>
              </a:pPr>
              <a:r>
                <a:rPr lang="en-US" sz="28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,Customers </a:t>
              </a:r>
            </a:p>
            <a:p>
              <a:pPr lvl="0">
                <a:lnSpc>
                  <a:spcPts val="2940"/>
                </a:lnSpc>
              </a:pPr>
              <a:r>
                <a:rPr lang="en-US" sz="28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&amp; Financial</a:t>
              </a:r>
            </a:p>
            <a:p>
              <a:pPr marL="0" lvl="0" indent="0" algn="l">
                <a:lnSpc>
                  <a:spcPts val="2175"/>
                </a:lnSpc>
              </a:pPr>
              <a:endParaRPr lang="en-US" sz="2800" kern="29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Cambria" panose="02040503050406030204" pitchFamily="18" charset="0"/>
                <a:cs typeface="DM Sans"/>
                <a:sym typeface="DM Sans"/>
              </a:endParaRPr>
            </a:p>
            <a:p>
              <a:pPr lvl="0">
                <a:lnSpc>
                  <a:spcPts val="2175"/>
                </a:lnSpc>
              </a:pPr>
              <a:endParaRPr lang="en-US" sz="2800" b="1" u="sng" kern="29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Cambria" panose="02040503050406030204" pitchFamily="18" charset="0"/>
                <a:cs typeface="DM Sans"/>
                <a:sym typeface="DM Sans"/>
              </a:endParaRPr>
            </a:p>
            <a:p>
              <a:pPr lvl="0">
                <a:lnSpc>
                  <a:spcPts val="2175"/>
                </a:lnSpc>
              </a:pPr>
              <a:r>
                <a:rPr lang="en-US" sz="2800" b="1" kern="29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Cambria" panose="02040503050406030204" pitchFamily="18" charset="0"/>
                  <a:cs typeface="DM Sans"/>
                  <a:sym typeface="DM Sans"/>
                </a:rPr>
                <a:t>LinkedIn:</a:t>
              </a:r>
              <a:endParaRPr lang="en-US" sz="2800" b="1" kern="2900" dirty="0">
                <a:solidFill>
                  <a:schemeClr val="tx2">
                    <a:lumMod val="60000"/>
                    <a:lumOff val="40000"/>
                  </a:schemeClr>
                </a:solidFill>
                <a:latin typeface="DM Sans Bold" charset="0"/>
                <a:ea typeface="Cambria" panose="02040503050406030204" pitchFamily="18" charset="0"/>
                <a:cs typeface="DM Sans"/>
                <a:sym typeface="DM Sans"/>
              </a:endParaRPr>
            </a:p>
            <a:p>
              <a:pPr lvl="0">
                <a:lnSpc>
                  <a:spcPts val="2175"/>
                </a:lnSpc>
              </a:pPr>
              <a:r>
                <a:rPr lang="en-US" sz="2800" kern="29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DM Sans Bold" charset="0"/>
                  <a:ea typeface="Cambria" panose="02040503050406030204" pitchFamily="18" charset="0"/>
                  <a:sym typeface="DM Sans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Randa Abu </a:t>
              </a:r>
              <a:r>
                <a:rPr lang="en-US" sz="2800" kern="2900" dirty="0" err="1">
                  <a:solidFill>
                    <a:schemeClr val="tx2">
                      <a:lumMod val="60000"/>
                      <a:lumOff val="40000"/>
                    </a:schemeClr>
                  </a:solidFill>
                  <a:latin typeface="DM Sans Bold" charset="0"/>
                  <a:ea typeface="Cambria" panose="02040503050406030204" pitchFamily="18" charset="0"/>
                  <a:sym typeface="DM Sans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Elmagd</a:t>
              </a:r>
              <a:endParaRPr lang="en-US" sz="2800" kern="2900" dirty="0">
                <a:solidFill>
                  <a:schemeClr val="tx2">
                    <a:lumMod val="60000"/>
                    <a:lumOff val="40000"/>
                  </a:schemeClr>
                </a:solidFill>
                <a:latin typeface="DM Sans Bold" charset="0"/>
                <a:ea typeface="Cambria" panose="02040503050406030204" pitchFamily="18" charset="0"/>
                <a:sym typeface="DM Sans"/>
              </a:endParaRPr>
            </a:p>
            <a:p>
              <a:pPr marL="0" lvl="0" indent="0" algn="l">
                <a:lnSpc>
                  <a:spcPts val="2175"/>
                </a:lnSpc>
              </a:pPr>
              <a:endParaRPr lang="en-US" sz="2800" kern="29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Cambria" panose="02040503050406030204" pitchFamily="18" charset="0"/>
                <a:cs typeface="DM Sans"/>
                <a:sym typeface="DM San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346700" cy="497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4"/>
                </a:lnSpc>
              </a:pPr>
              <a:r>
                <a:rPr lang="en-US" sz="2567" b="1" kern="29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Cambria" panose="02040503050406030204" pitchFamily="18" charset="0"/>
                  <a:cs typeface="DM Sans Bold"/>
                  <a:sym typeface="DM Sans Bold"/>
                </a:rPr>
                <a:t>RANDA ABU </a:t>
              </a:r>
              <a:r>
                <a:rPr lang="en-US" sz="2800" b="1" kern="29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Cambria" panose="02040503050406030204" pitchFamily="18" charset="0"/>
                  <a:cs typeface="DM Sans Bold"/>
                  <a:sym typeface="DM Sans Bold"/>
                </a:rPr>
                <a:t>ELMAGD</a:t>
              </a:r>
              <a:endParaRPr lang="en-US" sz="2567" b="1" kern="29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Cambria" panose="02040503050406030204" pitchFamily="18" charset="0"/>
                <a:cs typeface="DM Sans Bold"/>
                <a:sym typeface="DM Sans Bold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100422" y="6088276"/>
            <a:ext cx="3648263" cy="3615982"/>
            <a:chOff x="-349708" y="-372214"/>
            <a:chExt cx="5696408" cy="3428440"/>
          </a:xfrm>
        </p:grpSpPr>
        <p:sp>
          <p:nvSpPr>
            <p:cNvPr id="11" name="TextBox 11"/>
            <p:cNvSpPr txBox="1"/>
            <p:nvPr/>
          </p:nvSpPr>
          <p:spPr>
            <a:xfrm>
              <a:off x="-349708" y="226241"/>
              <a:ext cx="5696408" cy="28299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ts val="2940"/>
                </a:lnSpc>
              </a:pPr>
              <a:r>
                <a:rPr lang="en-US" sz="28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Customers &amp;</a:t>
              </a:r>
            </a:p>
            <a:p>
              <a:pPr marL="0" lvl="0" indent="0" algn="l">
                <a:lnSpc>
                  <a:spcPts val="2940"/>
                </a:lnSpc>
              </a:pPr>
              <a:r>
                <a:rPr lang="en-US" sz="28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Financial</a:t>
              </a:r>
            </a:p>
            <a:p>
              <a:pPr marL="0" lvl="0" indent="0" algn="l">
                <a:lnSpc>
                  <a:spcPts val="2940"/>
                </a:lnSpc>
              </a:pPr>
              <a:endParaRPr lang="ar-EG" sz="28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lvl="0">
                <a:lnSpc>
                  <a:spcPts val="2940"/>
                </a:lnSpc>
              </a:pPr>
              <a:endParaRPr lang="ar-EG" sz="2800" b="1" u="sng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lvl="0">
                <a:lnSpc>
                  <a:spcPts val="2940"/>
                </a:lnSpc>
              </a:pPr>
              <a:endParaRPr lang="en-US" sz="2800" b="1" u="sng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lvl="0">
                <a:lnSpc>
                  <a:spcPts val="2940"/>
                </a:lnSpc>
              </a:pPr>
              <a:r>
                <a:rPr lang="en-US" sz="2800" b="1" u="sng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LinkedIn:</a:t>
              </a:r>
              <a:endParaRPr lang="ar-EG" sz="2800" b="1" u="sng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lvl="0">
                <a:lnSpc>
                  <a:spcPts val="2940"/>
                </a:lnSpc>
              </a:pPr>
              <a:r>
                <a:rPr lang="en-US" sz="28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DM Sans Bold" charset="0"/>
                  <a:sym typeface="DM Sans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Maya</a:t>
              </a:r>
              <a:r>
                <a:rPr lang="en-US" sz="2800" b="1" u="sng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DM Sans Bold" charset="0"/>
                  <a:sym typeface="DM Sans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</a:t>
              </a:r>
              <a:r>
                <a:rPr lang="en-US" sz="28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DM Sans Bold" charset="0"/>
                  <a:sym typeface="DM Sans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Mohamed</a:t>
              </a:r>
              <a:endPara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DM Sans Bold" charset="0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endParaRPr lang="en-US" sz="2800" dirty="0">
                <a:solidFill>
                  <a:schemeClr val="accent4">
                    <a:lumMod val="50000"/>
                  </a:schemeClr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-349172" y="-372214"/>
              <a:ext cx="5346700" cy="5984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4"/>
                </a:lnSpc>
              </a:pPr>
              <a:r>
                <a:rPr lang="en-US" sz="2800" b="1" dirty="0">
                  <a:solidFill>
                    <a:schemeClr val="accent4">
                      <a:lumMod val="50000"/>
                    </a:schemeClr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MAYA MOHAMED</a:t>
              </a: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69A1F7F-7458-AD8F-85C1-3871E59C0110}"/>
              </a:ext>
            </a:extLst>
          </p:cNvPr>
          <p:cNvCxnSpPr>
            <a:cxnSpLocks/>
          </p:cNvCxnSpPr>
          <p:nvPr/>
        </p:nvCxnSpPr>
        <p:spPr>
          <a:xfrm flipV="1">
            <a:off x="112737" y="2459079"/>
            <a:ext cx="18288000" cy="18162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7C1E483-2925-7318-7F9E-7BF69F68BAA6}"/>
              </a:ext>
            </a:extLst>
          </p:cNvPr>
          <p:cNvCxnSpPr>
            <a:cxnSpLocks/>
          </p:cNvCxnSpPr>
          <p:nvPr/>
        </p:nvCxnSpPr>
        <p:spPr>
          <a:xfrm flipH="1">
            <a:off x="7262430" y="2459079"/>
            <a:ext cx="66470" cy="78279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617EE8B-3825-6B42-000F-48C5A2C58BF4}"/>
              </a:ext>
            </a:extLst>
          </p:cNvPr>
          <p:cNvCxnSpPr>
            <a:cxnSpLocks/>
          </p:cNvCxnSpPr>
          <p:nvPr/>
        </p:nvCxnSpPr>
        <p:spPr>
          <a:xfrm flipH="1">
            <a:off x="14606431" y="2477241"/>
            <a:ext cx="76404" cy="78097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D83CA02-DD48-CCA6-3750-766692FE24C0}"/>
              </a:ext>
            </a:extLst>
          </p:cNvPr>
          <p:cNvCxnSpPr>
            <a:cxnSpLocks/>
          </p:cNvCxnSpPr>
          <p:nvPr/>
        </p:nvCxnSpPr>
        <p:spPr>
          <a:xfrm>
            <a:off x="3633787" y="2477241"/>
            <a:ext cx="23813" cy="78097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D3C1D9E-307A-35D1-7E30-FA686DBAA15A}"/>
              </a:ext>
            </a:extLst>
          </p:cNvPr>
          <p:cNvCxnSpPr>
            <a:cxnSpLocks/>
          </p:cNvCxnSpPr>
          <p:nvPr/>
        </p:nvCxnSpPr>
        <p:spPr>
          <a:xfrm flipH="1">
            <a:off x="10924831" y="2459079"/>
            <a:ext cx="66270" cy="78279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Picture 53">
            <a:extLst>
              <a:ext uri="{FF2B5EF4-FFF2-40B4-BE49-F238E27FC236}">
                <a16:creationId xmlns:a16="http://schemas.microsoft.com/office/drawing/2014/main" id="{C5B0F2EA-F974-30FB-F9ED-855E9594F4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898" y="2651879"/>
            <a:ext cx="3200400" cy="3237823"/>
          </a:xfrm>
          <a:prstGeom prst="ellipse">
            <a:avLst/>
          </a:prstGeom>
          <a:ln>
            <a:solidFill>
              <a:srgbClr val="E6E6E6"/>
            </a:solidFill>
          </a:ln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AE779A5-D236-FB28-42D6-B14F8A4982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1053" y="2651879"/>
            <a:ext cx="3200401" cy="3237823"/>
          </a:xfrm>
          <a:prstGeom prst="ellipse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4551DB60-1CB1-A671-B587-2491D6C3E6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6966" y="2651880"/>
            <a:ext cx="3200400" cy="3237822"/>
          </a:xfrm>
          <a:prstGeom prst="ellipse">
            <a:avLst/>
          </a:prstGeom>
          <a:ln>
            <a:solidFill>
              <a:srgbClr val="E6E6E6"/>
            </a:solidFill>
          </a:ln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CD2FCB78-37A9-9C43-18B1-A4EC3F2D20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69306" y="2651879"/>
            <a:ext cx="3200400" cy="3237822"/>
          </a:xfrm>
          <a:prstGeom prst="ellipse">
            <a:avLst/>
          </a:prstGeom>
          <a:ln>
            <a:solidFill>
              <a:srgbClr val="E6E6E6"/>
            </a:solidFill>
          </a:ln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FE079007-11D0-69D7-C514-6487C4AE1FA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7068" y="2651879"/>
            <a:ext cx="3177089" cy="3169599"/>
          </a:xfrm>
          <a:prstGeom prst="ellipse">
            <a:avLst/>
          </a:prstGeom>
          <a:ln>
            <a:solidFill>
              <a:srgbClr val="E6E6E6"/>
            </a:solidFill>
          </a:ln>
        </p:spPr>
      </p:pic>
      <p:grpSp>
        <p:nvGrpSpPr>
          <p:cNvPr id="71" name="Group 4"/>
          <p:cNvGrpSpPr/>
          <p:nvPr/>
        </p:nvGrpSpPr>
        <p:grpSpPr>
          <a:xfrm>
            <a:off x="7439191" y="6137929"/>
            <a:ext cx="3469808" cy="3252836"/>
            <a:chOff x="-24834" y="-246790"/>
            <a:chExt cx="5371534" cy="4804631"/>
          </a:xfrm>
        </p:grpSpPr>
        <p:sp>
          <p:nvSpPr>
            <p:cNvPr id="72" name="TextBox 5"/>
            <p:cNvSpPr txBox="1"/>
            <p:nvPr/>
          </p:nvSpPr>
          <p:spPr>
            <a:xfrm>
              <a:off x="0" y="149128"/>
              <a:ext cx="5346700" cy="440871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endParaRPr lang="ar-EG" sz="28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r>
                <a:rPr lang="en-US" sz="28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Performance</a:t>
              </a:r>
            </a:p>
            <a:p>
              <a:pPr marL="0" lvl="0" indent="0" algn="l">
                <a:lnSpc>
                  <a:spcPts val="2940"/>
                </a:lnSpc>
              </a:pPr>
              <a:r>
                <a:rPr lang="en-US" sz="28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&amp; Satisfaction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28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endParaRPr lang="en-US" sz="28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endParaRPr lang="en-US" sz="28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r>
                <a:rPr lang="en-US" sz="28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LinkedIn</a:t>
              </a:r>
              <a:r>
                <a:rPr lang="en-US" sz="28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sym typeface="DM Sans"/>
                </a:rPr>
                <a:t>: </a:t>
              </a:r>
            </a:p>
            <a:p>
              <a:pPr marL="0" lvl="0" indent="0" algn="l">
                <a:lnSpc>
                  <a:spcPts val="2940"/>
                </a:lnSpc>
              </a:pPr>
              <a:r>
                <a:rPr lang="en-US" sz="28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DM Sans Bold" charset="0"/>
                  <a:sym typeface="DM Sans"/>
                  <a:hlinkClick r:id="rId11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Ahmed Rady</a:t>
              </a:r>
              <a:endPara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DM Sans Bold" charset="0"/>
                <a:sym typeface="DM Sans"/>
              </a:endParaRPr>
            </a:p>
          </p:txBody>
        </p:sp>
        <p:sp>
          <p:nvSpPr>
            <p:cNvPr id="73" name="TextBox 6"/>
            <p:cNvSpPr txBox="1"/>
            <p:nvPr/>
          </p:nvSpPr>
          <p:spPr>
            <a:xfrm>
              <a:off x="-24834" y="-246790"/>
              <a:ext cx="5346700" cy="6180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8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 Bold"/>
                  <a:cs typeface="DM Sans Bold"/>
                  <a:sym typeface="DM Sans Bold"/>
                </a:rPr>
                <a:t>AHMED RADY</a:t>
              </a:r>
            </a:p>
          </p:txBody>
        </p:sp>
      </p:grpSp>
      <p:grpSp>
        <p:nvGrpSpPr>
          <p:cNvPr id="2" name="Group 7"/>
          <p:cNvGrpSpPr/>
          <p:nvPr/>
        </p:nvGrpSpPr>
        <p:grpSpPr>
          <a:xfrm>
            <a:off x="14844231" y="6137929"/>
            <a:ext cx="3410463" cy="3294667"/>
            <a:chOff x="-97252" y="-47626"/>
            <a:chExt cx="5443952" cy="4008825"/>
          </a:xfrm>
        </p:grpSpPr>
        <p:sp>
          <p:nvSpPr>
            <p:cNvPr id="13" name="TextBox 8"/>
            <p:cNvSpPr txBox="1"/>
            <p:nvPr/>
          </p:nvSpPr>
          <p:spPr>
            <a:xfrm>
              <a:off x="0" y="329419"/>
              <a:ext cx="5346700" cy="363178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endParaRPr lang="en-US" sz="28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r>
                <a:rPr lang="en-US" sz="28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Insights &amp; Recommendation</a:t>
              </a:r>
            </a:p>
            <a:p>
              <a:pPr lvl="0">
                <a:lnSpc>
                  <a:spcPts val="2940"/>
                </a:lnSpc>
              </a:pPr>
              <a:endParaRPr lang="en-US" sz="28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lvl="0">
                <a:lnSpc>
                  <a:spcPts val="2940"/>
                </a:lnSpc>
              </a:pPr>
              <a:endParaRPr lang="en-US" sz="28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lvl="0">
                <a:lnSpc>
                  <a:spcPts val="2940"/>
                </a:lnSpc>
              </a:pPr>
              <a:endParaRPr lang="en-US" sz="28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lvl="0">
                <a:lnSpc>
                  <a:spcPts val="2940"/>
                </a:lnSpc>
              </a:pPr>
              <a:r>
                <a:rPr lang="en-US" sz="28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LinkedIn: </a:t>
              </a:r>
              <a:endParaRPr lang="ar-EG" sz="28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lvl="0">
                <a:lnSpc>
                  <a:spcPts val="2940"/>
                </a:lnSpc>
              </a:pPr>
              <a:r>
                <a:rPr lang="en-US" sz="28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DM Sans Bold" charset="0"/>
                  <a:sym typeface="DM Sans"/>
                  <a:hlinkClick r:id="rId1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Malak Ezzat</a:t>
              </a:r>
              <a:endPara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DM Sans Bold" charset="0"/>
                <a:sym typeface="DM Sans"/>
              </a:endParaRPr>
            </a:p>
          </p:txBody>
        </p:sp>
        <p:sp>
          <p:nvSpPr>
            <p:cNvPr id="14" name="TextBox 9"/>
            <p:cNvSpPr txBox="1"/>
            <p:nvPr/>
          </p:nvSpPr>
          <p:spPr>
            <a:xfrm>
              <a:off x="-97252" y="-47626"/>
              <a:ext cx="5346700" cy="5461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8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 Bold"/>
                  <a:cs typeface="DM Sans Bold"/>
                  <a:sym typeface="DM Sans Bold"/>
                </a:rPr>
                <a:t>MALAK EZZAT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716756"/>
            <a:ext cx="17087850" cy="8312944"/>
            <a:chOff x="0" y="66675"/>
            <a:chExt cx="11099800" cy="5959163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30405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Georgia Pro Light"/>
                  <a:cs typeface="Georgia Pro Light"/>
                  <a:sym typeface="Georgia Pro Light"/>
                </a:rPr>
                <a:t>What Is Our Project?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33703"/>
              <a:ext cx="11099800" cy="24921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32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Our project focuses on analyzing UK train performance, customer profiles, financial impact, and satisfaction through an innovative Power BI dashboard designed to enhance customer experience.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6750" y="716756"/>
            <a:ext cx="8324850" cy="4097476"/>
            <a:chOff x="0" y="66675"/>
            <a:chExt cx="11099800" cy="5463301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30405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Georgia Pro Light"/>
                  <a:cs typeface="Georgia Pro Light"/>
                  <a:sym typeface="Georgia Pro Light"/>
                </a:rPr>
                <a:t>Why This Topic Matters?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33703"/>
              <a:ext cx="11099800" cy="19962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8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Our project explores critical </a:t>
              </a:r>
              <a:r>
                <a:rPr lang="en-US" sz="28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 Bold"/>
                  <a:cs typeface="DM Sans Bold"/>
                  <a:sym typeface="DM Sans Bold"/>
                </a:rPr>
                <a:t>aspects of UK train performance</a:t>
              </a:r>
              <a:r>
                <a:rPr lang="en-US" sz="28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, focusing on operations, customer satisfaction, financial impacts, and user experience to enhance overall service quality.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6750" y="716756"/>
            <a:ext cx="8324850" cy="7627144"/>
            <a:chOff x="0" y="66675"/>
            <a:chExt cx="11099800" cy="4473262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30239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Georgia Pro Light"/>
                  <a:cs typeface="Georgia Pro Light"/>
                  <a:sym typeface="Georgia Pro Light"/>
                </a:rPr>
                <a:t>Preparing the Data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047803"/>
              <a:ext cx="11099800" cy="24921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8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In this phase, we meticulously cleaned and structured our dataset to ensure accuracy, removing duplicates and correcting inconsistencies for reliable analysis and insights.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433A5-D1D5-589A-0EFF-4C30474F9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7830800" cy="1058862"/>
          </a:xfrm>
        </p:spPr>
        <p:txBody>
          <a:bodyPr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Data Preparation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7742B-E1FF-FCD7-820D-37364C477B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1. Excel Work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3BC0A-2219-0FD3-3D58-604CA3A3D2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2174874"/>
            <a:ext cx="7924800" cy="78374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r-EG" sz="28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		     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Stations Table</a:t>
            </a:r>
            <a:endParaRPr lang="ar-EG" sz="3200" b="1" dirty="0">
              <a:solidFill>
                <a:schemeClr val="accent4">
                  <a:lumMod val="50000"/>
                </a:schemeClr>
              </a:solidFill>
              <a:latin typeface="DM Sans Bold" charset="0"/>
            </a:endParaRPr>
          </a:p>
          <a:p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Extracted the stations from the journey table.</a:t>
            </a:r>
            <a:endParaRPr lang="ar-EG" sz="2800" dirty="0">
              <a:solidFill>
                <a:schemeClr val="accent4">
                  <a:lumMod val="50000"/>
                </a:schemeClr>
              </a:solidFill>
              <a:latin typeface="DM Sans Bold" charset="0"/>
            </a:endParaRPr>
          </a:p>
          <a:p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Used Remove Duplicates</a:t>
            </a:r>
            <a:endParaRPr lang="ar-EG" sz="2800" dirty="0">
              <a:solidFill>
                <a:schemeClr val="accent4">
                  <a:lumMod val="50000"/>
                </a:schemeClr>
              </a:solidFill>
              <a:latin typeface="DM Sans Bold" charset="0"/>
            </a:endParaRPr>
          </a:p>
          <a:p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.Created an ID for each station.</a:t>
            </a:r>
            <a:endParaRPr lang="ar-EG" sz="2800" dirty="0">
              <a:solidFill>
                <a:schemeClr val="accent4">
                  <a:lumMod val="50000"/>
                </a:schemeClr>
              </a:solidFill>
              <a:latin typeface="DM Sans Bold" charset="0"/>
            </a:endParaRPr>
          </a:p>
          <a:p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Added the address for every station.</a:t>
            </a:r>
            <a:endParaRPr lang="ar-EG" sz="2800" dirty="0">
              <a:solidFill>
                <a:schemeClr val="accent4">
                  <a:lumMod val="50000"/>
                </a:schemeClr>
              </a:solidFill>
              <a:latin typeface="DM Sans Bold" charset="0"/>
            </a:endParaRPr>
          </a:p>
          <a:p>
            <a:pPr marL="0" indent="0">
              <a:buNone/>
            </a:pPr>
            <a:endParaRPr lang="ar-EG" sz="2800" dirty="0">
              <a:solidFill>
                <a:schemeClr val="accent4">
                  <a:lumMod val="50000"/>
                </a:schemeClr>
              </a:solidFill>
              <a:latin typeface="DM Sans Bold" charset="0"/>
            </a:endParaRPr>
          </a:p>
          <a:p>
            <a:pPr marL="0" indent="0" algn="ctr">
              <a:buNone/>
            </a:pPr>
            <a:r>
              <a:rPr lang="ar-EG" sz="28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  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Trains Table</a:t>
            </a:r>
            <a:endParaRPr lang="ar-EG" sz="3200" b="1" dirty="0">
              <a:solidFill>
                <a:schemeClr val="accent4">
                  <a:lumMod val="50000"/>
                </a:schemeClr>
              </a:solidFill>
              <a:latin typeface="DM Sans Bold" charset="0"/>
            </a:endParaRPr>
          </a:p>
          <a:p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Removed duplicates.</a:t>
            </a:r>
            <a:endParaRPr lang="ar-EG" sz="2800" dirty="0">
              <a:solidFill>
                <a:schemeClr val="accent4">
                  <a:lumMod val="50000"/>
                </a:schemeClr>
              </a:solidFill>
              <a:latin typeface="DM Sans Bold" charset="0"/>
            </a:endParaRPr>
          </a:p>
          <a:p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Created an ID for each train.</a:t>
            </a:r>
            <a:endParaRPr lang="ar-EG" sz="2800" dirty="0">
              <a:solidFill>
                <a:schemeClr val="accent4">
                  <a:lumMod val="50000"/>
                </a:schemeClr>
              </a:solidFill>
              <a:latin typeface="DM Sans Bold" charset="0"/>
            </a:endParaRPr>
          </a:p>
          <a:p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Deleted any repeated or unnecessary columns.</a:t>
            </a:r>
            <a:endParaRPr lang="ar-EG" sz="2800" dirty="0">
              <a:solidFill>
                <a:schemeClr val="accent4">
                  <a:lumMod val="50000"/>
                </a:schemeClr>
              </a:solidFill>
              <a:latin typeface="DM Sans Bold" charset="0"/>
            </a:endParaRPr>
          </a:p>
          <a:p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Uploaded the cleaned file to Power BI.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019D4E-76F7-0882-0016-DD7B7ECC99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686800" y="1535113"/>
            <a:ext cx="9601200" cy="639762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2. Power BI Work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4966E2-C7B5-D229-995B-B257D8CFB6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686800" y="2174874"/>
            <a:ext cx="9601200" cy="8112125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Continued data cleaning and structuring</a:t>
            </a:r>
          </a:p>
          <a:p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Dimension Tables Created</a:t>
            </a:r>
            <a:endParaRPr lang="en-US" sz="2800" dirty="0">
              <a:solidFill>
                <a:schemeClr val="accent4">
                  <a:lumMod val="50000"/>
                </a:schemeClr>
              </a:solidFill>
              <a:latin typeface="DM Sans Bold" charset="0"/>
            </a:endParaRPr>
          </a:p>
          <a:p>
            <a:pPr marL="457200" lvl="1" indent="0">
              <a:buNone/>
            </a:pPr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(Station Dimension / Train Dimension / Schedule Dimension / Customer Dimension )</a:t>
            </a:r>
          </a:p>
          <a:p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Ensured all dimension tables are clean and analysis-ready</a:t>
            </a:r>
          </a:p>
          <a:p>
            <a:pPr marL="0" indent="0">
              <a:buNone/>
            </a:pPr>
            <a:endParaRPr lang="en-US" sz="2800" dirty="0">
              <a:solidFill>
                <a:schemeClr val="accent4">
                  <a:lumMod val="50000"/>
                </a:schemeClr>
              </a:solidFill>
              <a:latin typeface="DM Sans Bold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			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    Fact Table &amp; Schema</a:t>
            </a:r>
          </a:p>
          <a:p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Journey Fact Table</a:t>
            </a:r>
            <a:endParaRPr lang="en-US" sz="2800" dirty="0">
              <a:solidFill>
                <a:schemeClr val="accent4">
                  <a:lumMod val="50000"/>
                </a:schemeClr>
              </a:solidFill>
              <a:latin typeface="DM Sans Bold" charset="0"/>
            </a:endParaRPr>
          </a:p>
          <a:p>
            <a:pPr lvl="1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Linked with dimension tables</a:t>
            </a:r>
          </a:p>
          <a:p>
            <a:pPr lvl="1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Foreign Keys set in the Journey Fact Table</a:t>
            </a:r>
          </a:p>
          <a:p>
            <a:pPr lvl="1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Primary Keys set in all dimension tables</a:t>
            </a:r>
          </a:p>
          <a:p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Star Schema Structure</a:t>
            </a:r>
            <a:endParaRPr lang="en-US" sz="2800" dirty="0">
              <a:solidFill>
                <a:schemeClr val="accent4">
                  <a:lumMod val="50000"/>
                </a:schemeClr>
              </a:solidFill>
              <a:latin typeface="DM Sans Bold" charset="0"/>
            </a:endParaRPr>
          </a:p>
          <a:p>
            <a:pPr lvl="1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Journey Fact Table at the center</a:t>
            </a:r>
          </a:p>
          <a:p>
            <a:pPr lvl="1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Dimensions surrounding it: Station, Train, Schedule, Customer</a:t>
            </a:r>
          </a:p>
        </p:txBody>
      </p:sp>
    </p:spTree>
    <p:extLst>
      <p:ext uri="{BB962C8B-B14F-4D97-AF65-F5344CB8AC3E}">
        <p14:creationId xmlns:p14="http://schemas.microsoft.com/office/powerpoint/2010/main" val="6230932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716756"/>
            <a:ext cx="8324850" cy="4112160"/>
            <a:chOff x="0" y="66675"/>
            <a:chExt cx="11099800" cy="5482880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30405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Georgia Pro Light"/>
                  <a:cs typeface="Georgia Pro Light"/>
                  <a:sym typeface="Georgia Pro Light"/>
                </a:rPr>
                <a:t>Data Model Overview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33703"/>
              <a:ext cx="11099800" cy="20158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32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This section outlines the star schema architecture of our data model, focusing on key entities: </a:t>
              </a:r>
              <a:r>
                <a:rPr lang="en-US" sz="32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 Bold"/>
                  <a:cs typeface="DM Sans Bold"/>
                  <a:sym typeface="DM Sans Bold"/>
                </a:rPr>
                <a:t>Journeys</a:t>
              </a:r>
              <a:r>
                <a:rPr lang="en-US" sz="32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, </a:t>
              </a:r>
              <a:r>
                <a:rPr lang="en-US" sz="32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 Bold"/>
                  <a:cs typeface="DM Sans Bold"/>
                  <a:sym typeface="DM Sans Bold"/>
                </a:rPr>
                <a:t>Customer</a:t>
              </a:r>
              <a:r>
                <a:rPr lang="en-US" sz="32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, </a:t>
              </a:r>
              <a:r>
                <a:rPr lang="en-US" sz="32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 Bold"/>
                  <a:cs typeface="DM Sans Bold"/>
                  <a:sym typeface="DM Sans Bold"/>
                </a:rPr>
                <a:t>Stations</a:t>
              </a:r>
              <a:r>
                <a:rPr lang="en-US" sz="32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, </a:t>
              </a:r>
              <a:r>
                <a:rPr lang="en-US" sz="3200" b="1" dirty="0" err="1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 Bold"/>
                  <a:cs typeface="DM Sans Bold"/>
                  <a:sym typeface="DM Sans Bold"/>
                </a:rPr>
                <a:t>TrainID</a:t>
              </a:r>
              <a:r>
                <a:rPr lang="en-US" sz="32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, and </a:t>
              </a:r>
              <a:r>
                <a:rPr lang="en-US" sz="32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 Bold"/>
                  <a:cs typeface="DM Sans Bold"/>
                  <a:sym typeface="DM Sans Bold"/>
                </a:rPr>
                <a:t>Schedule</a:t>
              </a:r>
              <a:r>
                <a:rPr lang="en-US" sz="32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.</a:t>
              </a:r>
            </a:p>
          </p:txBody>
        </p:sp>
      </p:grp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EF8D4C-C71C-5E0B-50D7-19FD53FD3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600" y="266700"/>
            <a:ext cx="9296400" cy="10020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723900"/>
            <a:ext cx="17621250" cy="6858000"/>
            <a:chOff x="0" y="66675"/>
            <a:chExt cx="11164616" cy="2625692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7927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Georgia Pro Light"/>
                  <a:cs typeface="Georgia Pro Light"/>
                  <a:sym typeface="Georgia Pro Light"/>
                </a:rPr>
                <a:t>Our Storytelling Flow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891586"/>
              <a:ext cx="11164616" cy="80078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32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This presentation outlines a cohesive narrative that guides our analysis, covering key areas from </a:t>
              </a:r>
              <a:r>
                <a:rPr lang="en-US" sz="32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 Bold"/>
                  <a:cs typeface="DM Sans Bold"/>
                  <a:sym typeface="DM Sans Bold"/>
                </a:rPr>
                <a:t>customer experiences</a:t>
              </a:r>
              <a:r>
                <a:rPr lang="en-US" sz="32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 to financial outcomes, helping us make informed recommendations.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716756"/>
            <a:ext cx="16325850" cy="7087333"/>
            <a:chOff x="0" y="66675"/>
            <a:chExt cx="21767800" cy="9449780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21767800" cy="15193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8800"/>
                </a:lnSpc>
              </a:pPr>
              <a:r>
                <a:rPr lang="en-US" sz="80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Georgia Pro Light"/>
                  <a:cs typeface="Georgia Pro Light"/>
                  <a:sym typeface="Georgia Pro Light"/>
                </a:rPr>
                <a:t>Overview of Performance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33704"/>
              <a:ext cx="20751800" cy="598275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ts val="2940"/>
                </a:lnSpc>
              </a:pPr>
              <a:endParaRPr lang="en-US" sz="4000" b="1" dirty="0">
                <a:solidFill>
                  <a:schemeClr val="accent4">
                    <a:lumMod val="50000"/>
                  </a:schemeClr>
                </a:solidFill>
                <a:latin typeface="DM Sans Bold" charset="0"/>
              </a:endParaRPr>
            </a:p>
            <a:p>
              <a:pPr lvl="0">
                <a:lnSpc>
                  <a:spcPts val="2940"/>
                </a:lnSpc>
              </a:pPr>
              <a:endParaRPr lang="en-US" sz="4000" b="1" dirty="0">
                <a:solidFill>
                  <a:schemeClr val="accent4">
                    <a:lumMod val="50000"/>
                  </a:schemeClr>
                </a:solidFill>
                <a:latin typeface="DM Sans Bold" charset="0"/>
              </a:endParaRPr>
            </a:p>
            <a:p>
              <a:pPr lvl="0">
                <a:lnSpc>
                  <a:spcPts val="2940"/>
                </a:lnSpc>
              </a:pPr>
              <a:endParaRPr lang="en-US" sz="4000" b="1" dirty="0">
                <a:solidFill>
                  <a:schemeClr val="accent4">
                    <a:lumMod val="50000"/>
                  </a:schemeClr>
                </a:solidFill>
                <a:latin typeface="DM Sans Bold" charset="0"/>
              </a:endParaRPr>
            </a:p>
            <a:p>
              <a:pPr lvl="0">
                <a:lnSpc>
                  <a:spcPts val="2940"/>
                </a:lnSpc>
              </a:pPr>
              <a:endParaRPr lang="en-US" sz="4000" b="1" dirty="0">
                <a:solidFill>
                  <a:schemeClr val="accent4">
                    <a:lumMod val="50000"/>
                  </a:schemeClr>
                </a:solidFill>
                <a:latin typeface="DM Sans Bold" charset="0"/>
              </a:endParaRPr>
            </a:p>
            <a:p>
              <a:pPr lvl="0">
                <a:lnSpc>
                  <a:spcPts val="2940"/>
                </a:lnSpc>
              </a:pPr>
              <a:r>
                <a:rPr lang="en-US" sz="40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</a:rPr>
                <a:t>"How is the railway system</a:t>
              </a:r>
              <a:r>
                <a:rPr lang="ar-EG" sz="40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</a:rPr>
                <a:t> </a:t>
              </a:r>
              <a:r>
                <a:rPr lang="en-US" sz="40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</a:rPr>
                <a:t>performing overall?"</a:t>
              </a:r>
              <a:endParaRPr lang="en-US" sz="4000" b="1" dirty="0">
                <a:solidFill>
                  <a:schemeClr val="accent4">
                    <a:lumMod val="50000"/>
                  </a:schemeClr>
                </a:solidFill>
                <a:latin typeface="DM Sans Bold" charset="0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r>
                <a:rPr lang="en-US" sz="32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This section presents key performance indicators, including </a:t>
              </a:r>
              <a:r>
                <a:rPr lang="en-US" sz="32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 Bold"/>
                  <a:cs typeface="DM Sans Bold"/>
                  <a:sym typeface="DM Sans Bold"/>
                </a:rPr>
                <a:t>total journeys</a:t>
              </a:r>
              <a:r>
                <a:rPr lang="en-US" sz="32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, </a:t>
              </a:r>
              <a:r>
                <a:rPr lang="en-US" sz="32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 Bold"/>
                  <a:cs typeface="DM Sans Bold"/>
                  <a:sym typeface="DM Sans Bold"/>
                </a:rPr>
                <a:t>revenue</a:t>
              </a:r>
              <a:r>
                <a:rPr lang="en-US" sz="32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, and </a:t>
              </a:r>
              <a:r>
                <a:rPr lang="en-US" sz="32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 Bold"/>
                  <a:cs typeface="DM Sans Bold"/>
                  <a:sym typeface="DM Sans Bold"/>
                </a:rPr>
                <a:t>average delay</a:t>
              </a:r>
              <a:r>
                <a:rPr lang="en-US" sz="32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, offering insights into the efficiency of UK train services and customer experience.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43FF3D-DE99-1F10-25B7-0345208BB2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6846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716756"/>
            <a:ext cx="17392650" cy="6353473"/>
            <a:chOff x="0" y="66675"/>
            <a:chExt cx="11099800" cy="6743982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2095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800"/>
                </a:lnSpc>
              </a:pPr>
              <a:r>
                <a:rPr lang="en-US" sz="80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Georgia Pro Light"/>
                  <a:cs typeface="Georgia Pro Light"/>
                  <a:sym typeface="Georgia Pro Light"/>
                </a:rPr>
                <a:t>Customer Profile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047803"/>
              <a:ext cx="11099800" cy="47628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940"/>
                </a:lnSpc>
              </a:pPr>
              <a:endParaRPr lang="en-US" sz="36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endParaRPr>
            </a:p>
            <a:p>
              <a:pPr lvl="0">
                <a:lnSpc>
                  <a:spcPts val="2940"/>
                </a:lnSpc>
              </a:pPr>
              <a:endParaRPr lang="en-US" sz="36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endParaRPr>
            </a:p>
            <a:p>
              <a:pPr lvl="0">
                <a:lnSpc>
                  <a:spcPts val="2940"/>
                </a:lnSpc>
              </a:pPr>
              <a:r>
                <a:rPr lang="en-US" sz="40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</a:rPr>
                <a:t>How do customers interact with</a:t>
              </a:r>
              <a:r>
                <a:rPr lang="ar-EG" sz="40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</a:rPr>
                <a:t> </a:t>
              </a:r>
              <a:r>
                <a:rPr lang="en-US" sz="40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</a:rPr>
                <a:t>UK train rides?"</a:t>
              </a:r>
              <a:endParaRPr lang="en-US" sz="4000" b="1" dirty="0">
                <a:solidFill>
                  <a:schemeClr val="accent4">
                    <a:lumMod val="50000"/>
                  </a:schemeClr>
                </a:solidFill>
                <a:latin typeface="DM Sans Bold" charset="0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r>
                <a:rPr lang="en-US" sz="32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This section analyzes customer behavior, exploring key metrics such as total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32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r>
                <a:rPr lang="en-US" sz="32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 customers, gender ratios, age distributions, trips per station, and ticket class usage to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32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r>
                <a:rPr lang="en-US" sz="32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 inform strategic decisions.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D17EF9-460A-067C-06ED-8ED377CB8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-42236"/>
            <a:ext cx="17297400" cy="1032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6509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04800" y="716756"/>
            <a:ext cx="17983200" cy="7972842"/>
            <a:chOff x="-482600" y="66675"/>
            <a:chExt cx="11582400" cy="10099271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Georgia Pro Light"/>
                  <a:cs typeface="Georgia Pro Light"/>
                  <a:sym typeface="Georgia Pro Light"/>
                </a:rPr>
                <a:t>Financial Impact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-482600" y="2108201"/>
              <a:ext cx="11099800" cy="8057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940"/>
                </a:lnSpc>
              </a:pPr>
              <a:endParaRPr lang="en-US" sz="3200" b="1" dirty="0">
                <a:solidFill>
                  <a:schemeClr val="accent4">
                    <a:lumMod val="50000"/>
                  </a:schemeClr>
                </a:solidFill>
                <a:latin typeface="DM Sans Bold"/>
              </a:endParaRPr>
            </a:p>
            <a:p>
              <a:pPr lvl="0">
                <a:lnSpc>
                  <a:spcPts val="2940"/>
                </a:lnSpc>
              </a:pPr>
              <a:endParaRPr lang="en-US" sz="3200" b="1" dirty="0">
                <a:solidFill>
                  <a:schemeClr val="accent4">
                    <a:lumMod val="50000"/>
                  </a:schemeClr>
                </a:solidFill>
                <a:latin typeface="DM Sans Bold"/>
              </a:endParaRPr>
            </a:p>
            <a:p>
              <a:pPr lvl="0">
                <a:lnSpc>
                  <a:spcPts val="2940"/>
                </a:lnSpc>
              </a:pPr>
              <a:r>
                <a:rPr lang="ar-EG" sz="3200" b="1" dirty="0">
                  <a:solidFill>
                    <a:schemeClr val="accent4">
                      <a:lumMod val="50000"/>
                    </a:schemeClr>
                  </a:solidFill>
                  <a:latin typeface="DM Sans Bold"/>
                </a:rPr>
                <a:t>"</a:t>
              </a:r>
              <a:r>
                <a:rPr lang="en-US" sz="4800" b="1" dirty="0">
                  <a:solidFill>
                    <a:schemeClr val="accent4">
                      <a:lumMod val="50000"/>
                    </a:schemeClr>
                  </a:solidFill>
                  <a:latin typeface="DM Sans Bold"/>
                </a:rPr>
                <a:t>How do customers and</a:t>
              </a:r>
              <a:r>
                <a:rPr lang="ar-EG" sz="4800" b="1" dirty="0">
                  <a:solidFill>
                    <a:schemeClr val="accent4">
                      <a:lumMod val="50000"/>
                    </a:schemeClr>
                  </a:solidFill>
                  <a:latin typeface="DM Sans Bold"/>
                </a:rPr>
                <a:t> </a:t>
              </a:r>
              <a:r>
                <a:rPr lang="en-US" sz="4800" b="1" dirty="0">
                  <a:solidFill>
                    <a:schemeClr val="accent4">
                      <a:lumMod val="50000"/>
                    </a:schemeClr>
                  </a:solidFill>
                  <a:latin typeface="DM Sans Bold"/>
                </a:rPr>
                <a:t>ticket sales affect station</a:t>
              </a:r>
            </a:p>
            <a:p>
              <a:pPr lvl="0">
                <a:lnSpc>
                  <a:spcPts val="2940"/>
                </a:lnSpc>
              </a:pPr>
              <a:endParaRPr lang="en-US" sz="4800" b="1" dirty="0">
                <a:solidFill>
                  <a:schemeClr val="accent4">
                    <a:lumMod val="50000"/>
                  </a:schemeClr>
                </a:solidFill>
                <a:latin typeface="DM Sans Bold"/>
              </a:endParaRPr>
            </a:p>
            <a:p>
              <a:pPr lvl="0">
                <a:lnSpc>
                  <a:spcPts val="2940"/>
                </a:lnSpc>
              </a:pPr>
              <a:r>
                <a:rPr lang="en-US" sz="4800" b="1" dirty="0">
                  <a:solidFill>
                    <a:schemeClr val="accent4">
                      <a:lumMod val="50000"/>
                    </a:schemeClr>
                  </a:solidFill>
                  <a:latin typeface="DM Sans Bold"/>
                </a:rPr>
                <a:t>performance and</a:t>
              </a:r>
              <a:r>
                <a:rPr lang="ar-EG" sz="4800" b="1" dirty="0">
                  <a:solidFill>
                    <a:schemeClr val="accent4">
                      <a:lumMod val="50000"/>
                    </a:schemeClr>
                  </a:solidFill>
                  <a:latin typeface="DM Sans Bold"/>
                </a:rPr>
                <a:t> </a:t>
              </a:r>
              <a:r>
                <a:rPr lang="en-US" sz="4800" b="1" dirty="0">
                  <a:solidFill>
                    <a:schemeClr val="accent4">
                      <a:lumMod val="50000"/>
                    </a:schemeClr>
                  </a:solidFill>
                  <a:latin typeface="DM Sans Bold"/>
                </a:rPr>
                <a:t>revenue in the UK?"</a:t>
              </a:r>
              <a:endParaRPr lang="en-US" sz="4000" b="1" dirty="0">
                <a:solidFill>
                  <a:schemeClr val="accent4">
                    <a:lumMod val="50000"/>
                  </a:schemeClr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chemeClr val="accent4">
                    <a:lumMod val="50000"/>
                  </a:schemeClr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chemeClr val="accent4">
                    <a:lumMod val="50000"/>
                  </a:schemeClr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chemeClr val="accent4">
                    <a:lumMod val="50000"/>
                  </a:schemeClr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chemeClr val="accent4">
                    <a:lumMod val="50000"/>
                  </a:schemeClr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chemeClr val="accent4">
                    <a:lumMod val="50000"/>
                  </a:schemeClr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r>
                <a:rPr lang="en-US" sz="36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This section analyzes </a:t>
              </a:r>
              <a:r>
                <a:rPr lang="en-US" sz="36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 Bold"/>
                  <a:cs typeface="DM Sans Bold"/>
                  <a:sym typeface="DM Sans Bold"/>
                </a:rPr>
                <a:t>ticket pricing</a:t>
              </a:r>
              <a:r>
                <a:rPr lang="en-US" sz="36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 and buyer behaviors, exploring revenue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36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r>
                <a:rPr lang="en-US" sz="36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 patterns across cities and stations, and examining how payment methods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36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r>
                <a:rPr lang="en-US" sz="36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 influence overall financial performance.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36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endParaRPr lang="en-US" sz="36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1609FC-5D9C-A2AD-24E3-A76048FB4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-53244"/>
            <a:ext cx="17525999" cy="1039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4840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716756"/>
            <a:ext cx="17621250" cy="7008624"/>
            <a:chOff x="0" y="66675"/>
            <a:chExt cx="11295176" cy="9580735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45140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Georgia Pro Light"/>
                  <a:cs typeface="Georgia Pro Light"/>
                  <a:sym typeface="Georgia Pro Light"/>
                </a:rPr>
                <a:t>Performance Analysis</a:t>
              </a:r>
            </a:p>
            <a:p>
              <a:pPr marL="0" lvl="0" indent="0" algn="l">
                <a:lnSpc>
                  <a:spcPts val="8800"/>
                </a:lnSpc>
              </a:pPr>
              <a:endParaRPr lang="en-US" sz="80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Georgia Pro Light"/>
                <a:cs typeface="Georgia Pro Light"/>
                <a:sym typeface="Georgia Pro Ligh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33704"/>
              <a:ext cx="11295176" cy="61137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ts val="2940"/>
                </a:lnSpc>
              </a:pPr>
              <a:endParaRPr lang="en-US" sz="2800" b="1" dirty="0">
                <a:solidFill>
                  <a:schemeClr val="accent4">
                    <a:lumMod val="50000"/>
                  </a:schemeClr>
                </a:solidFill>
                <a:latin typeface="DM Sans Bold" charset="0"/>
              </a:endParaRPr>
            </a:p>
            <a:p>
              <a:pPr lvl="0">
                <a:lnSpc>
                  <a:spcPts val="2940"/>
                </a:lnSpc>
              </a:pPr>
              <a:endParaRPr lang="en-US" sz="2800" b="1" dirty="0">
                <a:solidFill>
                  <a:schemeClr val="accent4">
                    <a:lumMod val="50000"/>
                  </a:schemeClr>
                </a:solidFill>
                <a:latin typeface="DM Sans Bold" charset="0"/>
              </a:endParaRPr>
            </a:p>
            <a:p>
              <a:pPr lvl="0">
                <a:lnSpc>
                  <a:spcPts val="2940"/>
                </a:lnSpc>
              </a:pPr>
              <a:r>
                <a:rPr lang="en-US" sz="28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</a:rPr>
                <a:t>"</a:t>
              </a:r>
              <a:r>
                <a:rPr lang="en-US" sz="40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</a:rPr>
                <a:t>How do journey volumes, ticket</a:t>
              </a:r>
              <a:r>
                <a:rPr lang="ar-EG" sz="40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</a:rPr>
                <a:t> </a:t>
              </a:r>
              <a:r>
                <a:rPr lang="en-US" sz="40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</a:rPr>
                <a:t>classes, and revenue distribution</a:t>
              </a:r>
            </a:p>
            <a:p>
              <a:pPr lvl="0">
                <a:lnSpc>
                  <a:spcPts val="2940"/>
                </a:lnSpc>
              </a:pPr>
              <a:endParaRPr lang="en-US" sz="4000" b="1" dirty="0">
                <a:solidFill>
                  <a:schemeClr val="accent4">
                    <a:lumMod val="50000"/>
                  </a:schemeClr>
                </a:solidFill>
                <a:latin typeface="DM Sans Bold" charset="0"/>
              </a:endParaRPr>
            </a:p>
            <a:p>
              <a:pPr lvl="0">
                <a:lnSpc>
                  <a:spcPts val="2940"/>
                </a:lnSpc>
              </a:pPr>
              <a:r>
                <a:rPr lang="en-US" sz="40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</a:rPr>
                <a:t> across UK stations affect overall</a:t>
              </a:r>
              <a:r>
                <a:rPr lang="ar-EG" sz="40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</a:rPr>
                <a:t> </a:t>
              </a:r>
              <a:r>
                <a:rPr lang="en-US" sz="40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</a:rPr>
                <a:t>railway performance?"</a:t>
              </a:r>
              <a:endParaRPr lang="en-US" sz="4000" b="1" dirty="0">
                <a:solidFill>
                  <a:schemeClr val="accent4">
                    <a:lumMod val="50000"/>
                  </a:schemeClr>
                </a:solidFill>
                <a:latin typeface="DM Sans Bold" charset="0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r>
                <a:rPr lang="en-US" sz="32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This section delves into the </a:t>
              </a:r>
              <a:r>
                <a:rPr lang="en-US" sz="32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 Bold"/>
                  <a:cs typeface="DM Sans Bold"/>
                  <a:sym typeface="DM Sans Bold"/>
                </a:rPr>
                <a:t>performance metrics</a:t>
              </a:r>
              <a:r>
                <a:rPr lang="en-US" sz="32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 of UK trains, analyzing journey volumes by station, revenue generated by ticket class, and identifying top-performing stations to enhance operational efficiency.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CFB5B4-92B4-7409-3346-0DD15A174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969" y="0"/>
            <a:ext cx="17492063" cy="1028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2125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716756"/>
            <a:ext cx="17830800" cy="7811648"/>
            <a:chOff x="0" y="66675"/>
            <a:chExt cx="23190654" cy="9172385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23190654" cy="13379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Georgia Pro Light"/>
                  <a:cs typeface="Georgia Pro Light"/>
                  <a:sym typeface="Georgia Pro Light"/>
                </a:rPr>
                <a:t>Customer Satisfaction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33703"/>
              <a:ext cx="23190654" cy="570535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>
                <a:lnSpc>
                  <a:spcPts val="2940"/>
                </a:lnSpc>
              </a:pPr>
              <a:r>
                <a:rPr lang="en-US" sz="40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</a:rPr>
                <a:t>How do delay reasons, train types,</a:t>
              </a:r>
              <a:r>
                <a:rPr lang="ar-EG" sz="40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</a:rPr>
                <a:t> </a:t>
              </a:r>
              <a:r>
                <a:rPr lang="en-US" sz="40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</a:rPr>
                <a:t>and journey disruptions impact</a:t>
              </a:r>
            </a:p>
            <a:p>
              <a:pPr>
                <a:lnSpc>
                  <a:spcPts val="2940"/>
                </a:lnSpc>
              </a:pPr>
              <a:endParaRPr lang="en-US" sz="4000" b="1" dirty="0">
                <a:solidFill>
                  <a:schemeClr val="accent4">
                    <a:lumMod val="50000"/>
                  </a:schemeClr>
                </a:solidFill>
                <a:latin typeface="DM Sans Bold" charset="0"/>
              </a:endParaRPr>
            </a:p>
            <a:p>
              <a:pPr>
                <a:lnSpc>
                  <a:spcPts val="2940"/>
                </a:lnSpc>
              </a:pPr>
              <a:r>
                <a:rPr lang="en-US" sz="40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</a:rPr>
                <a:t> customer satisfaction and ratings</a:t>
              </a:r>
              <a:r>
                <a:rPr lang="ar-EG" sz="40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</a:rPr>
                <a:t> </a:t>
              </a:r>
              <a:r>
                <a:rPr lang="en-US" sz="40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</a:rPr>
                <a:t>in the UK rail system?"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endParaRPr lang="en-US" sz="36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r>
                <a:rPr lang="en-US" sz="32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Understanding </a:t>
              </a:r>
              <a:r>
                <a:rPr lang="en-US" sz="32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 Bold"/>
                  <a:cs typeface="DM Sans Bold"/>
                  <a:sym typeface="DM Sans Bold"/>
                </a:rPr>
                <a:t>customer satisfaction</a:t>
              </a:r>
              <a:r>
                <a:rPr lang="en-US" sz="32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 is crucial for improving train services. This section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32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r>
                <a:rPr lang="en-US" sz="32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 analyzes delayed journeys, common reasons for dissatisfaction, and ratings across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32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r>
                <a:rPr lang="en-US" sz="32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 different train types.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66DD7A-BBC4-D336-2A21-7703BFC30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11" y="0"/>
            <a:ext cx="1745338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6600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647700"/>
            <a:ext cx="18288000" cy="5378352"/>
            <a:chOff x="0" y="66675"/>
            <a:chExt cx="11099800" cy="5895318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249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Georgia Pro Light"/>
                  <a:cs typeface="Georgia Pro Light"/>
                  <a:sym typeface="Georgia Pro Light"/>
                </a:rPr>
                <a:t>Insights &amp; Recommendations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33704"/>
              <a:ext cx="11099800" cy="24282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endParaRPr lang="en-US" sz="40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lvl="0">
                <a:lnSpc>
                  <a:spcPts val="2940"/>
                </a:lnSpc>
              </a:pPr>
              <a:r>
                <a:rPr lang="en-US" sz="40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</a:rPr>
                <a:t>"What are the most important findings from the railway dataset, and what</a:t>
              </a:r>
            </a:p>
            <a:p>
              <a:pPr lvl="0">
                <a:lnSpc>
                  <a:spcPts val="2940"/>
                </a:lnSpc>
              </a:pPr>
              <a:endParaRPr lang="en-US" sz="4000" b="1" dirty="0">
                <a:solidFill>
                  <a:schemeClr val="accent4">
                    <a:lumMod val="50000"/>
                  </a:schemeClr>
                </a:solidFill>
                <a:latin typeface="DM Sans Bold" charset="0"/>
              </a:endParaRPr>
            </a:p>
            <a:p>
              <a:pPr lvl="0">
                <a:lnSpc>
                  <a:spcPts val="2940"/>
                </a:lnSpc>
              </a:pPr>
              <a:r>
                <a:rPr lang="en-US" sz="40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</a:rPr>
                <a:t> strategic actions should the business take next?"</a:t>
              </a:r>
              <a:endParaRPr lang="en-US" sz="4000" b="1" dirty="0">
                <a:solidFill>
                  <a:schemeClr val="accent4">
                    <a:lumMod val="50000"/>
                  </a:schemeClr>
                </a:solidFill>
                <a:latin typeface="DM Sans Bold" charset="0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6AB953-EEE2-2401-7AE5-32865A2084A1}"/>
              </a:ext>
            </a:extLst>
          </p:cNvPr>
          <p:cNvSpPr txBox="1"/>
          <p:nvPr/>
        </p:nvSpPr>
        <p:spPr>
          <a:xfrm>
            <a:off x="838200" y="1485900"/>
            <a:ext cx="17449800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1. Key Insights from Analysis</a:t>
            </a:r>
          </a:p>
          <a:p>
            <a:r>
              <a:rPr lang="en-US" sz="32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Critical findings from customer data, journey performance, and demographic analysis</a:t>
            </a:r>
          </a:p>
          <a:p>
            <a:endParaRPr lang="en-US" sz="3200" dirty="0">
              <a:solidFill>
                <a:schemeClr val="accent4">
                  <a:lumMod val="50000"/>
                </a:schemeClr>
              </a:solidFill>
              <a:latin typeface="DM Sans Bold" charset="0"/>
            </a:endParaRPr>
          </a:p>
          <a:p>
            <a:r>
              <a:rPr lang="en-US" sz="4000" b="1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1. Customer Usage</a:t>
            </a:r>
          </a:p>
          <a:p>
            <a:r>
              <a:rPr lang="en-US" sz="32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The dataset shows 2,835 customers generating over 10,000 journeys. This indicates strong repeat behavior, with many customers taking multiple trips per year.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>
              <a:solidFill>
                <a:schemeClr val="accent4">
                  <a:lumMod val="50000"/>
                </a:schemeClr>
              </a:solidFill>
              <a:latin typeface="DM Sans Bold" charset="0"/>
            </a:endParaRPr>
          </a:p>
          <a:p>
            <a:r>
              <a:rPr lang="en-US" sz="4000" b="1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2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.</a:t>
            </a:r>
            <a:r>
              <a:rPr lang="en-US" sz="4000" b="1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 Revenue Performance</a:t>
            </a:r>
          </a:p>
          <a:p>
            <a:r>
              <a:rPr lang="en-US" sz="32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A total revenue of £523K generated from a relatively small customer base suggests high monetization per user, but also highlights limited market reach.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>
              <a:solidFill>
                <a:schemeClr val="accent4">
                  <a:lumMod val="50000"/>
                </a:schemeClr>
              </a:solidFill>
              <a:latin typeface="DM Sans Bold" charset="0"/>
            </a:endParaRPr>
          </a:p>
          <a:p>
            <a:r>
              <a:rPr lang="en-US" sz="4000" b="1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3. Operational Delays</a:t>
            </a:r>
          </a:p>
          <a:p>
            <a:r>
              <a:rPr lang="en-US" sz="32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The average delay is 19.59 minutes per journey, significantly above acceptable performance benchmarks and likely affecting journey reliability.</a:t>
            </a:r>
          </a:p>
        </p:txBody>
      </p:sp>
    </p:spTree>
    <p:extLst>
      <p:ext uri="{BB962C8B-B14F-4D97-AF65-F5344CB8AC3E}">
        <p14:creationId xmlns:p14="http://schemas.microsoft.com/office/powerpoint/2010/main" val="12513209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2F8AA6-E3F8-F214-2023-E8F701758E45}"/>
              </a:ext>
            </a:extLst>
          </p:cNvPr>
          <p:cNvSpPr txBox="1"/>
          <p:nvPr/>
        </p:nvSpPr>
        <p:spPr>
          <a:xfrm>
            <a:off x="0" y="876300"/>
            <a:ext cx="18288000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4">
                    <a:lumMod val="50000"/>
                  </a:schemeClr>
                </a:solidFill>
                <a:latin typeface="Ds sans bold"/>
              </a:rPr>
              <a:t>Additional findings on demand patterns and customer satisfaction</a:t>
            </a:r>
          </a:p>
          <a:p>
            <a:endParaRPr lang="en-US" sz="3200" b="1" dirty="0">
              <a:solidFill>
                <a:schemeClr val="accent4">
                  <a:lumMod val="50000"/>
                </a:schemeClr>
              </a:solidFill>
              <a:latin typeface="Ds sans bold"/>
            </a:endParaRPr>
          </a:p>
          <a:p>
            <a:endParaRPr lang="en-US" sz="3200" b="1" dirty="0">
              <a:solidFill>
                <a:schemeClr val="accent4">
                  <a:lumMod val="50000"/>
                </a:schemeClr>
              </a:solidFill>
              <a:latin typeface="Ds sans bold"/>
            </a:endParaRPr>
          </a:p>
          <a:p>
            <a:r>
              <a:rPr lang="en-US" sz="4000" b="1" dirty="0">
                <a:solidFill>
                  <a:schemeClr val="accent4">
                    <a:lumMod val="50000"/>
                  </a:schemeClr>
                </a:solidFill>
                <a:latin typeface="Ds sans bold"/>
              </a:rPr>
              <a:t>4. City Demand Variance</a:t>
            </a:r>
          </a:p>
          <a:p>
            <a:endParaRPr lang="en-US" sz="4000" b="1" dirty="0">
              <a:solidFill>
                <a:schemeClr val="accent4">
                  <a:lumMod val="50000"/>
                </a:schemeClr>
              </a:solidFill>
              <a:latin typeface="Ds sans bold"/>
            </a:endParaRPr>
          </a:p>
          <a:p>
            <a:r>
              <a:rPr lang="en-US" sz="3200" dirty="0">
                <a:solidFill>
                  <a:schemeClr val="accent4">
                    <a:lumMod val="50000"/>
                  </a:schemeClr>
                </a:solidFill>
                <a:latin typeface="Ds sans bold"/>
              </a:rPr>
              <a:t>Journey volume is heavily concentrated in London, while other cities such as Norwich and Southampton show low activity, indicating uneven regional demand.</a:t>
            </a:r>
          </a:p>
          <a:p>
            <a:endParaRPr lang="en-US" sz="3200" dirty="0">
              <a:solidFill>
                <a:schemeClr val="accent4">
                  <a:lumMod val="50000"/>
                </a:schemeClr>
              </a:solidFill>
              <a:latin typeface="Ds sans bold"/>
            </a:endParaRPr>
          </a:p>
          <a:p>
            <a:r>
              <a:rPr lang="en-US" sz="4000" b="1" dirty="0">
                <a:solidFill>
                  <a:schemeClr val="accent4">
                    <a:lumMod val="50000"/>
                  </a:schemeClr>
                </a:solidFill>
                <a:latin typeface="Ds sans bold"/>
              </a:rPr>
              <a:t>5. Passenger Demographics</a:t>
            </a:r>
          </a:p>
          <a:p>
            <a:endParaRPr lang="en-US" sz="4000" b="1" dirty="0">
              <a:solidFill>
                <a:schemeClr val="accent4">
                  <a:lumMod val="50000"/>
                </a:schemeClr>
              </a:solidFill>
              <a:latin typeface="Ds sans bold"/>
            </a:endParaRPr>
          </a:p>
          <a:p>
            <a:r>
              <a:rPr lang="en-US" sz="3200" dirty="0">
                <a:solidFill>
                  <a:schemeClr val="accent4">
                    <a:lumMod val="50000"/>
                  </a:schemeClr>
                </a:solidFill>
                <a:latin typeface="Ds sans bold"/>
              </a:rPr>
              <a:t>The majority of passengers fall within the 40+ age group. Younger segments (18-25) are underrepresented, showing a demographic imbalance.</a:t>
            </a:r>
          </a:p>
          <a:p>
            <a:endParaRPr lang="en-US" sz="3200" dirty="0">
              <a:solidFill>
                <a:schemeClr val="accent4">
                  <a:lumMod val="50000"/>
                </a:schemeClr>
              </a:solidFill>
              <a:latin typeface="Ds sans bold"/>
            </a:endParaRPr>
          </a:p>
          <a:p>
            <a:r>
              <a:rPr lang="en-US" sz="4000" b="1" dirty="0">
                <a:solidFill>
                  <a:schemeClr val="accent4">
                    <a:lumMod val="50000"/>
                  </a:schemeClr>
                </a:solidFill>
                <a:latin typeface="Ds sans bold"/>
              </a:rPr>
              <a:t>6. Customer Ratings</a:t>
            </a:r>
          </a:p>
          <a:p>
            <a:endParaRPr lang="en-US" sz="4000" b="1" dirty="0">
              <a:solidFill>
                <a:schemeClr val="accent4">
                  <a:lumMod val="50000"/>
                </a:schemeClr>
              </a:solidFill>
              <a:latin typeface="Ds sans bold"/>
            </a:endParaRPr>
          </a:p>
          <a:p>
            <a:r>
              <a:rPr lang="en-US" sz="3200" dirty="0">
                <a:solidFill>
                  <a:schemeClr val="accent4">
                    <a:lumMod val="50000"/>
                  </a:schemeClr>
                </a:solidFill>
                <a:latin typeface="Ds sans bold"/>
              </a:rPr>
              <a:t>Despite high delays, most journeys are rated 4 or 5 stars, reflecting strong overall satisfaction.</a:t>
            </a:r>
          </a:p>
        </p:txBody>
      </p:sp>
    </p:spTree>
    <p:extLst>
      <p:ext uri="{BB962C8B-B14F-4D97-AF65-F5344CB8AC3E}">
        <p14:creationId xmlns:p14="http://schemas.microsoft.com/office/powerpoint/2010/main" val="42150415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66465F-97B0-51C2-CBC2-5F7869262E7C}"/>
              </a:ext>
            </a:extLst>
          </p:cNvPr>
          <p:cNvSpPr txBox="1"/>
          <p:nvPr/>
        </p:nvSpPr>
        <p:spPr>
          <a:xfrm>
            <a:off x="0" y="0"/>
            <a:ext cx="18135600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2-Strategic Recommendations</a:t>
            </a:r>
          </a:p>
          <a:p>
            <a:r>
              <a:rPr lang="en-US" sz="32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Actionable strategies to improve efficiency, revenue, and customer satisfaction</a:t>
            </a:r>
          </a:p>
          <a:p>
            <a:endParaRPr lang="en-US" sz="4000" dirty="0">
              <a:solidFill>
                <a:schemeClr val="accent4">
                  <a:lumMod val="50000"/>
                </a:schemeClr>
              </a:solidFill>
              <a:latin typeface="DM Sans Bold" charset="0"/>
            </a:endParaRPr>
          </a:p>
          <a:p>
            <a:pPr marL="742950" indent="-742950">
              <a:buAutoNum type="arabicPeriod"/>
            </a:pPr>
            <a:r>
              <a:rPr lang="en-US" sz="4000" b="1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Strengthen Customer Retention</a:t>
            </a:r>
          </a:p>
          <a:p>
            <a:r>
              <a:rPr lang="en-US" sz="32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Introduce loyalty rewards, travel passes, and targeted campaigns to maintain high repeat usage.</a:t>
            </a:r>
          </a:p>
          <a:p>
            <a:endParaRPr lang="en-US" sz="3200" dirty="0">
              <a:solidFill>
                <a:schemeClr val="accent4">
                  <a:lumMod val="50000"/>
                </a:schemeClr>
              </a:solidFill>
              <a:latin typeface="DM Sans Bold" charset="0"/>
            </a:endParaRPr>
          </a:p>
          <a:p>
            <a:r>
              <a:rPr lang="en-US" sz="4000" b="1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2. Increase Revenue per Customer</a:t>
            </a:r>
          </a:p>
          <a:p>
            <a:r>
              <a:rPr lang="en-US" sz="32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Offer premium add-ons such as </a:t>
            </a:r>
            <a:r>
              <a:rPr lang="en-US" sz="3200" dirty="0" err="1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WiFi</a:t>
            </a:r>
            <a:r>
              <a:rPr lang="en-US" sz="32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, seat upgrades, and monthly commuter plans to grow revenue.</a:t>
            </a:r>
          </a:p>
          <a:p>
            <a:endParaRPr lang="en-US" sz="3200" dirty="0">
              <a:solidFill>
                <a:schemeClr val="accent4">
                  <a:lumMod val="50000"/>
                </a:schemeClr>
              </a:solidFill>
              <a:latin typeface="DM Sans Bold" charset="0"/>
            </a:endParaRPr>
          </a:p>
          <a:p>
            <a:r>
              <a:rPr lang="en-US" sz="4000" b="1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3. Reduce Delay Impact</a:t>
            </a:r>
          </a:p>
          <a:p>
            <a:r>
              <a:rPr lang="en-US" sz="32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Analyze delay-heavy routes, optimize schedules, and implement predictive maintenance to improve punctuality.</a:t>
            </a:r>
          </a:p>
        </p:txBody>
      </p:sp>
    </p:spTree>
    <p:extLst>
      <p:ext uri="{BB962C8B-B14F-4D97-AF65-F5344CB8AC3E}">
        <p14:creationId xmlns:p14="http://schemas.microsoft.com/office/powerpoint/2010/main" val="2105166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E420DE-6534-AF8B-0081-1618294D9793}"/>
              </a:ext>
            </a:extLst>
          </p:cNvPr>
          <p:cNvSpPr txBox="1"/>
          <p:nvPr/>
        </p:nvSpPr>
        <p:spPr>
          <a:xfrm>
            <a:off x="0" y="0"/>
            <a:ext cx="18288000" cy="9694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Continue building growth through expansion and targeted initiatives</a:t>
            </a:r>
          </a:p>
          <a:p>
            <a:endParaRPr lang="en-US" sz="3200" dirty="0">
              <a:solidFill>
                <a:schemeClr val="accent4">
                  <a:lumMod val="50000"/>
                </a:schemeClr>
              </a:solidFill>
              <a:latin typeface="DM Sans Bold" charset="0"/>
            </a:endParaRPr>
          </a:p>
          <a:p>
            <a:endParaRPr lang="en-US" sz="3200" dirty="0">
              <a:solidFill>
                <a:schemeClr val="accent4">
                  <a:lumMod val="50000"/>
                </a:schemeClr>
              </a:solidFill>
              <a:latin typeface="DM Sans Bold" charset="0"/>
            </a:endParaRPr>
          </a:p>
          <a:p>
            <a:r>
              <a:rPr lang="en-US" sz="40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4. Expand Regional Demand</a:t>
            </a:r>
          </a:p>
          <a:p>
            <a:endParaRPr lang="en-US" sz="4000" dirty="0">
              <a:solidFill>
                <a:schemeClr val="accent4">
                  <a:lumMod val="50000"/>
                </a:schemeClr>
              </a:solidFill>
              <a:latin typeface="DM Sans Bold" charset="0"/>
            </a:endParaRPr>
          </a:p>
          <a:p>
            <a:r>
              <a:rPr lang="en-US" sz="32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Increase train frequency or run targeted promotions in underperforming cities to balance journey distribution.</a:t>
            </a:r>
          </a:p>
          <a:p>
            <a:endParaRPr lang="en-US" sz="3200" dirty="0">
              <a:solidFill>
                <a:schemeClr val="accent4">
                  <a:lumMod val="50000"/>
                </a:schemeClr>
              </a:solidFill>
              <a:latin typeface="DM Sans Bold" charset="0"/>
            </a:endParaRPr>
          </a:p>
          <a:p>
            <a:r>
              <a:rPr lang="en-US" sz="40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5. Attract Younger Passengers</a:t>
            </a:r>
          </a:p>
          <a:p>
            <a:endParaRPr lang="en-US" sz="4000" dirty="0">
              <a:solidFill>
                <a:schemeClr val="accent4">
                  <a:lumMod val="50000"/>
                </a:schemeClr>
              </a:solidFill>
              <a:latin typeface="DM Sans Bold" charset="0"/>
            </a:endParaRPr>
          </a:p>
          <a:p>
            <a:r>
              <a:rPr lang="en-US" sz="32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Introduce youth discounts, student passes, and social-media-driven campaigns to grow younger segments.</a:t>
            </a:r>
          </a:p>
          <a:p>
            <a:endParaRPr lang="en-US" sz="3200" dirty="0">
              <a:solidFill>
                <a:schemeClr val="accent4">
                  <a:lumMod val="50000"/>
                </a:schemeClr>
              </a:solidFill>
              <a:latin typeface="DM Sans Bold" charset="0"/>
            </a:endParaRPr>
          </a:p>
          <a:p>
            <a:r>
              <a:rPr lang="en-US" sz="40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6. Leverage Strong Ratings</a:t>
            </a:r>
          </a:p>
          <a:p>
            <a:endParaRPr lang="en-US" sz="4000" dirty="0">
              <a:solidFill>
                <a:schemeClr val="accent4">
                  <a:lumMod val="50000"/>
                </a:schemeClr>
              </a:solidFill>
              <a:latin typeface="DM Sans Bold" charset="0"/>
            </a:endParaRPr>
          </a:p>
          <a:p>
            <a:r>
              <a:rPr lang="en-US" sz="32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  <a:t>Promote high customer satisfaction in marketing materials and continue improving journey experience</a:t>
            </a:r>
            <a:r>
              <a:rPr lang="en-US" sz="3200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br>
              <a:rPr lang="en-US" sz="3200" dirty="0">
                <a:solidFill>
                  <a:schemeClr val="accent4">
                    <a:lumMod val="50000"/>
                  </a:schemeClr>
                </a:solidFill>
                <a:latin typeface="DM Sans Bold" charset="0"/>
              </a:rPr>
            </a:br>
            <a:endParaRPr lang="en-US" sz="3200" dirty="0">
              <a:solidFill>
                <a:schemeClr val="accent4">
                  <a:lumMod val="50000"/>
                </a:schemeClr>
              </a:solidFill>
              <a:latin typeface="DM Sans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971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6750" y="716756"/>
            <a:ext cx="8324850" cy="2983051"/>
            <a:chOff x="0" y="66675"/>
            <a:chExt cx="11099800" cy="3977401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Georgia Pro Light"/>
                  <a:cs typeface="Georgia Pro Light"/>
                  <a:sym typeface="Georgia Pro Light"/>
                </a:rPr>
                <a:t>Conclusion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047803"/>
              <a:ext cx="11099800" cy="19962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8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In summary, </a:t>
              </a:r>
              <a:r>
                <a:rPr lang="en-US" sz="2800" b="1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 Bold"/>
                  <a:cs typeface="DM Sans Bold"/>
                  <a:sym typeface="DM Sans Bold"/>
                </a:rPr>
                <a:t>delays profoundly affect customer satisfaction</a:t>
              </a:r>
              <a:r>
                <a:rPr lang="en-US" sz="2800" dirty="0">
                  <a:solidFill>
                    <a:schemeClr val="accent4">
                      <a:lumMod val="50000"/>
                    </a:schemeClr>
                  </a:solidFill>
                  <a:latin typeface="DM Sans Bold" charset="0"/>
                  <a:ea typeface="DM Sans"/>
                  <a:cs typeface="DM Sans"/>
                  <a:sym typeface="DM Sans"/>
                </a:rPr>
                <a:t>, and enhancing train performance is crucial for improved ratings and increased revenue. 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457200" y="723901"/>
            <a:ext cx="9753600" cy="12750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9600" u="none" strike="noStrike" dirty="0">
                <a:solidFill>
                  <a:schemeClr val="accent4">
                    <a:lumMod val="50000"/>
                  </a:schemeClr>
                </a:solidFill>
                <a:latin typeface="DM Sans Bold" charset="0"/>
                <a:ea typeface="Georgia Pro Light"/>
                <a:cs typeface="Georgia Pro Light"/>
                <a:sym typeface="Georgia Pro Light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</TotalTime>
  <Words>1050</Words>
  <Application>Microsoft Office PowerPoint</Application>
  <PresentationFormat>Custom</PresentationFormat>
  <Paragraphs>228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Ds sans bold</vt:lpstr>
      <vt:lpstr>Calibri</vt:lpstr>
      <vt:lpstr>DM Sans Bold</vt:lpstr>
      <vt:lpstr>Aptos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Preparation Steps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- Performance Dashboard</dc:title>
  <dc:creator>Shiko</dc:creator>
  <dc:description>عرض تقديمي - Performance Dashboard</dc:description>
  <cp:lastModifiedBy>Kerolis Adel</cp:lastModifiedBy>
  <cp:revision>9</cp:revision>
  <dcterms:created xsi:type="dcterms:W3CDTF">2006-08-16T00:00:00Z</dcterms:created>
  <dcterms:modified xsi:type="dcterms:W3CDTF">2025-11-24T12:17:49Z</dcterms:modified>
  <dc:identifier>DAG4v9PMMH0</dc:identifier>
</cp:coreProperties>
</file>